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8" autoAdjust="0"/>
    <p:restoredTop sz="94641"/>
  </p:normalViewPr>
  <p:slideViewPr>
    <p:cSldViewPr snapToGrid="0">
      <p:cViewPr varScale="1">
        <p:scale>
          <a:sx n="41" d="100"/>
          <a:sy n="41" d="100"/>
        </p:scale>
        <p:origin x="78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E8D61-5395-488A-9D14-C87579E0705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649C5-CD4E-41DC-B9B4-9A7602BA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0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649C5-CD4E-41DC-B9B4-9A7602BA4D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2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6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5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4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8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8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9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0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7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0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pic>
        <p:nvPicPr>
          <p:cNvPr id="4" name="Picture 3" descr="Sphere of mesh and nodes">
            <a:extLst>
              <a:ext uri="{FF2B5EF4-FFF2-40B4-BE49-F238E27FC236}">
                <a16:creationId xmlns:a16="http://schemas.microsoft.com/office/drawing/2014/main" id="{C0E21715-4E26-E162-719D-8F4EBAAB3D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28" b="23872"/>
          <a:stretch/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B1BA34-3D10-A9A8-1022-8DB408EA1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600" noProof="1">
                <a:solidFill>
                  <a:srgbClr val="FFFFFF"/>
                </a:solidFill>
              </a:rPr>
              <a:t>Enterprise Network Design Project</a:t>
            </a:r>
            <a:br>
              <a:rPr lang="en-GB" sz="5600" noProof="1">
                <a:solidFill>
                  <a:srgbClr val="FFFFFF"/>
                </a:solidFill>
              </a:rPr>
            </a:br>
            <a:endParaRPr lang="en-GB" sz="5600" noProof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366DC-FD43-0ACF-FCFE-4BF433A5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GB" sz="2400" noProof="1">
                <a:solidFill>
                  <a:srgbClr val="FFFFFF"/>
                </a:solidFill>
              </a:rPr>
              <a:t>Designed using Cisco Packet Tracer</a:t>
            </a:r>
          </a:p>
          <a:p>
            <a:endParaRPr lang="en-GB" sz="2400" noProof="1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992169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DFC9-B6E6-2FE6-D514-1C3F3A02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172792"/>
            <a:ext cx="11155680" cy="1463040"/>
          </a:xfrm>
        </p:spPr>
        <p:txBody>
          <a:bodyPr/>
          <a:lstStyle/>
          <a:p>
            <a:r>
              <a:rPr lang="en-GB" noProof="1"/>
              <a:t>Project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63692-702A-9A9B-05E9-5EED2412D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5968" y="2578608"/>
            <a:ext cx="5166360" cy="3767328"/>
          </a:xfrm>
        </p:spPr>
        <p:txBody>
          <a:bodyPr/>
          <a:lstStyle/>
          <a:p>
            <a:r>
              <a:rPr lang="en-GB" noProof="1"/>
              <a:t>Group Leader   </a:t>
            </a:r>
          </a:p>
          <a:p>
            <a:r>
              <a:rPr lang="en-US" dirty="0"/>
              <a:t>Topology Designer</a:t>
            </a:r>
            <a:r>
              <a:rPr lang="en-GB" noProof="1"/>
              <a:t>  </a:t>
            </a:r>
          </a:p>
          <a:p>
            <a:r>
              <a:rPr lang="en-US" dirty="0"/>
              <a:t>Documentation Lead</a:t>
            </a:r>
            <a:r>
              <a:rPr lang="en-GB" noProof="1"/>
              <a:t>  </a:t>
            </a:r>
          </a:p>
          <a:p>
            <a:r>
              <a:rPr lang="en-US" dirty="0"/>
              <a:t>Budget Analyst</a:t>
            </a:r>
            <a:r>
              <a:rPr lang="en-GB" noProof="1"/>
              <a:t>  </a:t>
            </a:r>
          </a:p>
          <a:p>
            <a:r>
              <a:rPr lang="en-US" dirty="0"/>
              <a:t>Remote Access &amp; Security Specialist</a:t>
            </a:r>
            <a:r>
              <a:rPr lang="en-GB" noProof="1"/>
              <a:t>  </a:t>
            </a:r>
          </a:p>
          <a:p>
            <a:r>
              <a:rPr lang="en-US" dirty="0"/>
              <a:t>Packet Tracer Implementation Specialist</a:t>
            </a:r>
            <a:endParaRPr lang="en-GB" noProof="1"/>
          </a:p>
          <a:p>
            <a:r>
              <a:rPr lang="en-US" dirty="0"/>
              <a:t>Quality Assurance &amp; Review Lead</a:t>
            </a:r>
            <a:r>
              <a:rPr lang="en-GB" noProof="1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9F1EF-54D9-4C64-DF06-BFF38AD2C9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noProof="1"/>
              <a:t>LT. NKOSIYAPHANTSI  – 45720185   </a:t>
            </a:r>
          </a:p>
          <a:p>
            <a:r>
              <a:rPr lang="en-GB" noProof="1"/>
              <a:t>TD. MOHAPI  – 42570603   </a:t>
            </a:r>
          </a:p>
          <a:p>
            <a:r>
              <a:rPr lang="en-GB" noProof="1"/>
              <a:t>TP. KEKANA  – 44158955   </a:t>
            </a:r>
          </a:p>
          <a:p>
            <a:r>
              <a:rPr lang="en-GB" noProof="1"/>
              <a:t>T. Van Wyk – 45603073  </a:t>
            </a:r>
          </a:p>
          <a:p>
            <a:r>
              <a:rPr lang="en-GB" noProof="1"/>
              <a:t>J. MASHININI  – 47219815   </a:t>
            </a:r>
          </a:p>
          <a:p>
            <a:r>
              <a:rPr lang="en-GB" noProof="1"/>
              <a:t>IK. NGOBENI  – 43019080   </a:t>
            </a:r>
          </a:p>
          <a:p>
            <a:r>
              <a:rPr lang="en-GB" noProof="1"/>
              <a:t>KK. KHANYE  – 45919348  </a:t>
            </a:r>
          </a:p>
        </p:txBody>
      </p:sp>
      <p:pic>
        <p:nvPicPr>
          <p:cNvPr id="6" name="Graphic 5" descr="Meeting with solid fill">
            <a:extLst>
              <a:ext uri="{FF2B5EF4-FFF2-40B4-BE49-F238E27FC236}">
                <a16:creationId xmlns:a16="http://schemas.microsoft.com/office/drawing/2014/main" id="{E718411D-4F16-C1CD-347C-D8212BD6D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6477" y="1067389"/>
            <a:ext cx="914400" cy="914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11D845-E337-265D-751F-0E61E072D1F5}"/>
              </a:ext>
            </a:extLst>
          </p:cNvPr>
          <p:cNvCxnSpPr>
            <a:cxnSpLocks/>
          </p:cNvCxnSpPr>
          <p:nvPr/>
        </p:nvCxnSpPr>
        <p:spPr>
          <a:xfrm flipV="1">
            <a:off x="515112" y="1932038"/>
            <a:ext cx="11155680" cy="457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99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31CD-87CB-5C69-3DD5-A9764F83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37205"/>
          </a:xfrm>
        </p:spPr>
        <p:txBody>
          <a:bodyPr/>
          <a:lstStyle/>
          <a:p>
            <a:r>
              <a:rPr lang="en-GB" u="sng" noProof="1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B506-7EDA-5816-0DAB-B28B14FED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613"/>
            <a:ext cx="11155680" cy="4330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1"/>
              <a:t>As part of an office expansion initiative, this project involved designing a </a:t>
            </a:r>
            <a:r>
              <a:rPr lang="en-GB" b="1" noProof="1"/>
              <a:t>low-cost, scalable enterprise network</a:t>
            </a:r>
            <a:r>
              <a:rPr lang="en-GB" noProof="1"/>
              <a:t> for a newly constructed office building. The network supports both </a:t>
            </a:r>
            <a:r>
              <a:rPr lang="en-GB" b="1" noProof="1"/>
              <a:t>wired and wireless access</a:t>
            </a:r>
            <a:r>
              <a:rPr lang="en-GB" noProof="1"/>
              <a:t> for employees and guests across multiple departments.</a:t>
            </a:r>
          </a:p>
          <a:p>
            <a:pPr>
              <a:buNone/>
            </a:pPr>
            <a:r>
              <a:rPr lang="en-GB" b="1" noProof="1"/>
              <a:t>Key Features: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Supports desktops, laptops, and mobile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Centralized server room with DHCP, DNS, NAT, and intranet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Secure Wi-Fi for staff; isolated guest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Seamless inter-office communication &amp; centralized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Remote access for hybrid work via VPN/SSH.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Fully simulated and configured in </a:t>
            </a:r>
            <a:r>
              <a:rPr lang="en-GB" b="1" noProof="1"/>
              <a:t>Cisco Packet Tracer.</a:t>
            </a:r>
            <a:endParaRPr lang="en-GB" noProof="1"/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48900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8266-A664-5C6E-D428-FCA0294F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2224A-6A87-9B17-9A52-14E2F2466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b="1" noProof="1"/>
              <a:t>Topology Type:</a:t>
            </a:r>
            <a:br>
              <a:rPr lang="en-GB" noProof="1"/>
            </a:br>
            <a:r>
              <a:rPr lang="en-GB" noProof="1"/>
              <a:t>A </a:t>
            </a:r>
            <a:r>
              <a:rPr lang="en-GB" b="1" noProof="1"/>
              <a:t>hybrid ring-extended star topology</a:t>
            </a:r>
            <a:r>
              <a:rPr lang="en-GB" noProof="1"/>
              <a:t> was used. Each office operates on a star structure, while all switches are interconnected via a </a:t>
            </a:r>
            <a:r>
              <a:rPr lang="en-GB" b="1" noProof="1"/>
              <a:t>hierarchical inter-router backbone</a:t>
            </a:r>
            <a:r>
              <a:rPr lang="en-GB" noProof="1"/>
              <a:t>, with </a:t>
            </a:r>
            <a:r>
              <a:rPr lang="en-GB" b="1" noProof="1"/>
              <a:t>6 routers forming a ring</a:t>
            </a:r>
            <a:r>
              <a:rPr lang="en-GB" noProof="1"/>
              <a:t> for redundancy.</a:t>
            </a:r>
          </a:p>
          <a:p>
            <a:pPr>
              <a:buNone/>
            </a:pPr>
            <a:r>
              <a:rPr lang="en-GB" b="1" noProof="1"/>
              <a:t>Structure Summary: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Offices connect to </a:t>
            </a:r>
            <a:r>
              <a:rPr lang="en-GB" b="1" noProof="1"/>
              <a:t>dedicated switches</a:t>
            </a:r>
            <a:r>
              <a:rPr lang="en-GB" noProof="1"/>
              <a:t> (max 8 PCs per switch).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Switches are linked to </a:t>
            </a:r>
            <a:r>
              <a:rPr lang="en-GB" b="1" noProof="1"/>
              <a:t>routers in hierarchical layers.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Router 6</a:t>
            </a:r>
            <a:r>
              <a:rPr lang="en-GB" noProof="1"/>
              <a:t> serves as the backbone router and connects to the file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This design supports </a:t>
            </a:r>
            <a:r>
              <a:rPr lang="en-GB" b="1" noProof="1"/>
              <a:t>scalability, redundancy</a:t>
            </a:r>
            <a:r>
              <a:rPr lang="en-GB" noProof="1"/>
              <a:t>, and </a:t>
            </a:r>
            <a:r>
              <a:rPr lang="en-GB" b="1" noProof="1"/>
              <a:t>clear core-distribution-access layering.</a:t>
            </a:r>
            <a:endParaRPr lang="en-GB" noProof="1"/>
          </a:p>
          <a:p>
            <a:pPr marL="0" indent="0">
              <a:buNone/>
            </a:pPr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02718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CD87-A187-BF99-9D7E-FE44EF23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312508"/>
          </a:xfrm>
        </p:spPr>
        <p:txBody>
          <a:bodyPr>
            <a:normAutofit fontScale="90000"/>
          </a:bodyPr>
          <a:lstStyle/>
          <a:p>
            <a:r>
              <a:rPr lang="en-GB" u="sng" noProof="1"/>
              <a:t>Detailed Breakdown of Network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F7755-637A-997A-2194-ABD8C33E3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113935"/>
            <a:ext cx="5166360" cy="4591665"/>
          </a:xfrm>
        </p:spPr>
        <p:txBody>
          <a:bodyPr>
            <a:normAutofit fontScale="32500" lnSpcReduction="2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9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Offices and PCs </a:t>
            </a:r>
            <a:endParaRPr lang="en-GB" sz="4900" kern="100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 Offices (Office 1 -13 includes the technicians office)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office has 4 PCs</a:t>
            </a:r>
          </a:p>
          <a:p>
            <a:pPr marL="34290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group of office connect to dedicated switch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1 -Office 1 &amp; 2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2 -Office 3 &amp; 4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3- Technician Office 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4 -Office 5 &amp;6 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Switch 5 -Office 7 &amp; 8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6 -Office 9 &amp; 10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49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Switch 7 -Office 11 &amp; 12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800" kern="100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buNone/>
            </a:pPr>
            <a:r>
              <a:rPr lang="en-GB" sz="18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endParaRPr lang="en-GB" noProof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5353C-B10B-361F-5579-D30B75B82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113935"/>
            <a:ext cx="5166360" cy="4232001"/>
          </a:xfrm>
        </p:spPr>
        <p:txBody>
          <a:bodyPr>
            <a:normAutofit fontScale="32500" lnSpcReduction="2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55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 and connectivity</a:t>
            </a:r>
            <a:endParaRPr lang="en-GB" sz="5500" kern="100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55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 1 – </a:t>
            </a:r>
            <a:r>
              <a:rPr lang="en-GB" sz="55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server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55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 2 –</a:t>
            </a:r>
            <a:r>
              <a:rPr lang="en-GB" sz="55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switch 1 &amp; 2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55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 3 –</a:t>
            </a:r>
            <a:r>
              <a:rPr lang="en-GB" sz="55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switch 3 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55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 4 </a:t>
            </a:r>
            <a:r>
              <a:rPr lang="en-GB" sz="5500" b="1" kern="100" noProof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GB" sz="55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switch 4 &amp; 5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5500" b="1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 5 –</a:t>
            </a:r>
            <a:r>
              <a:rPr lang="en-GB" sz="5500" kern="100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switch 6 &amp; 7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5500" b="1" kern="100" noProof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 6 – </a:t>
            </a:r>
            <a:r>
              <a:rPr lang="en-GB" sz="5500" kern="100" noProof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Backbone + entry</a:t>
            </a:r>
            <a:endParaRPr lang="en-GB" sz="5500" kern="100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407454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400E-1906-F724-CF2D-E314BA2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37205"/>
          </a:xfrm>
        </p:spPr>
        <p:txBody>
          <a:bodyPr/>
          <a:lstStyle/>
          <a:p>
            <a:r>
              <a:rPr lang="en-GB" u="sng" noProof="1"/>
              <a:t>IP Addressing Schema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D8E88A-B890-3C36-6155-6F98FE4FF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965818"/>
              </p:ext>
            </p:extLst>
          </p:nvPr>
        </p:nvGraphicFramePr>
        <p:xfrm>
          <a:off x="521208" y="1877716"/>
          <a:ext cx="11156949" cy="4905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983">
                  <a:extLst>
                    <a:ext uri="{9D8B030D-6E8A-4147-A177-3AD203B41FA5}">
                      <a16:colId xmlns:a16="http://schemas.microsoft.com/office/drawing/2014/main" val="2932017778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983933811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3729699271"/>
                    </a:ext>
                  </a:extLst>
                </a:gridCol>
              </a:tblGrid>
              <a:tr h="516073">
                <a:tc>
                  <a:txBody>
                    <a:bodyPr/>
                    <a:lstStyle/>
                    <a:p>
                      <a:r>
                        <a:rPr lang="en-GB" noProof="1"/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IP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Getaway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73239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1 &amp;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192.168.1.2 – 192.168.1.9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75828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3 &amp;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192.168.2.2 – 192.168.2.9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46540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5 &amp;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192.168.3.2 – 192.168.3.9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177975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7 &amp;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192.168.4.2 – 192.168.4.9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285908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9 &amp;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192.168.6.2 – 192.168.6.9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6547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11 &amp;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192.168.7.2 – 192.168.7.9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2060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Technician 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192.168.5.2 – 192.168.5.3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03549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Server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1280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Reception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192.168.8.2 -192.168.8.3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714919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Reception 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34232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Open floor 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192.168.10.2 – 192.168.10.6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192.168.10.1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144543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GB" noProof="1"/>
                        <a:t>BoardRoom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1"/>
                        <a:t>192.168.8.1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968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18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3969-EA36-1E26-5C50-904D0E50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48715"/>
          </a:xfrm>
        </p:spPr>
        <p:txBody>
          <a:bodyPr/>
          <a:lstStyle/>
          <a:p>
            <a:r>
              <a:rPr lang="en-GB" u="sng" noProof="1"/>
              <a:t>Network Design Consideration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620C-F69A-CDE1-66A1-090B8B6ED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5445"/>
            <a:ext cx="11155680" cy="4611329"/>
          </a:xfrm>
        </p:spPr>
        <p:txBody>
          <a:bodyPr/>
          <a:lstStyle/>
          <a:p>
            <a:pPr>
              <a:buNone/>
            </a:pPr>
            <a:r>
              <a:rPr lang="en-GB" b="1" noProof="1"/>
              <a:t>Section 1: Reception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2 Wired Access Points</a:t>
            </a:r>
            <a:r>
              <a:rPr lang="en-GB" noProof="1"/>
              <a:t> (Staff PCs)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1 Network Printer</a:t>
            </a:r>
            <a:r>
              <a:rPr lang="en-GB" noProof="1"/>
              <a:t> (Accessible enterprise-wide)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Wi-Fi Access: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Staff: 2–4 devices each (personal/work)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Guests: Limited internet access only, </a:t>
            </a:r>
            <a:r>
              <a:rPr lang="en-GB" b="1" noProof="1"/>
              <a:t>isolated from LAN</a:t>
            </a:r>
            <a:endParaRPr lang="en-GB" noProof="1"/>
          </a:p>
          <a:p>
            <a:pPr>
              <a:buNone/>
            </a:pPr>
            <a:r>
              <a:rPr lang="en-GB" b="1" noProof="1"/>
              <a:t>Section 2: Server Room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Hosts: </a:t>
            </a:r>
            <a:r>
              <a:rPr lang="en-GB" b="1" noProof="1"/>
              <a:t>Core Routers, Switches &amp; Servers (DHCP, DNS, NAT, Storage).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No General Staff Access</a:t>
            </a:r>
            <a:r>
              <a:rPr lang="en-GB" noProof="1"/>
              <a:t> (Technicians only).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Internet Gateway Point</a:t>
            </a:r>
            <a:r>
              <a:rPr lang="en-GB" noProof="1"/>
              <a:t>; internal traffic bypasses unless necessary.</a:t>
            </a:r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27157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A948-D478-2C0A-94A9-B6C2AAD6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Network Design Consideration(cont…)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2070-2E0E-B6EB-24EB-AE0785188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64774"/>
            <a:ext cx="11155680" cy="428116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b="1" noProof="1"/>
              <a:t>Section 3: Technician Room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2 Wired Workstations</a:t>
            </a:r>
            <a:r>
              <a:rPr lang="en-GB" noProof="1"/>
              <a:t> + </a:t>
            </a:r>
            <a:r>
              <a:rPr lang="en-GB" b="1" noProof="1"/>
              <a:t>2 Wired Task Aps.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4 Wired Test Ports</a:t>
            </a:r>
            <a:r>
              <a:rPr lang="en-GB" noProof="1"/>
              <a:t> (For equipment testing).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Wi-Fi: 8 Devices per Technician.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Dedicated Line to Server Room</a:t>
            </a:r>
            <a:r>
              <a:rPr lang="en-GB" noProof="1"/>
              <a:t> (for maintenance/troubleshooting).</a:t>
            </a:r>
          </a:p>
          <a:p>
            <a:pPr>
              <a:buNone/>
            </a:pPr>
            <a:r>
              <a:rPr lang="en-GB" b="1" noProof="1"/>
              <a:t>Section 4: Staff Offices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Integrated Network Communication &amp; Sharing.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Wi-Fi Access</a:t>
            </a:r>
            <a:r>
              <a:rPr lang="en-GB" noProof="1"/>
              <a:t>: 2–4 personal/work devices per user.</a:t>
            </a:r>
          </a:p>
          <a:p>
            <a:r>
              <a:rPr lang="en-GB" b="1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intermediate switches to core.</a:t>
            </a:r>
            <a:endParaRPr lang="en-GB" noProof="1"/>
          </a:p>
          <a:p>
            <a:r>
              <a:rPr lang="en-GB" b="1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inter-office comms</a:t>
            </a:r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file &amp; printer sharing.</a:t>
            </a:r>
            <a:endParaRPr lang="en-GB" noProof="1"/>
          </a:p>
          <a:p>
            <a:r>
              <a:rPr lang="en-GB" b="1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access across all offices.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endParaRPr lang="en-GB" noProof="1"/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50207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D051-F2AB-7D5C-7FA1-99ED04D9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Network Design Consideration(cont…)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C21E8-B5D7-2952-53D7-4241974A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92594"/>
            <a:ext cx="11155680" cy="381491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b="1" noProof="1"/>
              <a:t>Section 5: Remote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Secure connections via </a:t>
            </a:r>
            <a:r>
              <a:rPr lang="en-GB" b="1" noProof="1"/>
              <a:t>VPN / SSH.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Remote access to </a:t>
            </a:r>
            <a:r>
              <a:rPr lang="en-GB" b="1" noProof="1"/>
              <a:t>internal resources</a:t>
            </a:r>
            <a:r>
              <a:rPr lang="en-GB" noProof="1"/>
              <a:t> (files, intranet).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Managed via </a:t>
            </a:r>
            <a:r>
              <a:rPr lang="en-GB" b="1" noProof="1"/>
              <a:t>central server infrastructure</a:t>
            </a:r>
            <a:r>
              <a:rPr lang="en-GB" noProof="1"/>
              <a:t> (enables hybrid work).</a:t>
            </a:r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supports hybrid work environments.</a:t>
            </a:r>
            <a:endParaRPr lang="en-GB" noProof="1"/>
          </a:p>
          <a:p>
            <a:pPr>
              <a:buNone/>
            </a:pPr>
            <a:r>
              <a:rPr lang="en-GB" b="1" noProof="1"/>
              <a:t>Section 6: Store Room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LAN-Isolated</a:t>
            </a:r>
            <a:r>
              <a:rPr lang="en-GB" noProof="1"/>
              <a:t> from enterprise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Internet Access Enabled.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No internal communication needed.</a:t>
            </a:r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switch or AP installed in this room.</a:t>
            </a:r>
            <a:endParaRPr lang="en-GB" noProof="1"/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Upper-left corner office of the building.</a:t>
            </a:r>
            <a:endParaRPr lang="en-GB" noProof="1"/>
          </a:p>
          <a:p>
            <a:pPr marL="0" indent="0">
              <a:buNone/>
            </a:pPr>
            <a:endParaRPr lang="en-GB" noProof="1"/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79442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CEDB-2DA8-9090-1316-809B9B945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Network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9418E-254E-C6CF-8271-3CC0F2DB1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074606"/>
            <a:ext cx="5486302" cy="427133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GB" sz="1700" b="1" noProof="1"/>
              <a:t>Tool Used:</a:t>
            </a:r>
            <a:endParaRPr lang="en-GB" sz="1700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sz="1700" noProof="1"/>
              <a:t>Designed using </a:t>
            </a:r>
            <a:r>
              <a:rPr lang="en-GB" sz="1700" b="1" noProof="1"/>
              <a:t>Cisco Packet Tracer v9.0.0</a:t>
            </a:r>
            <a:endParaRPr lang="en-GB" sz="1700" noProof="1"/>
          </a:p>
          <a:p>
            <a:pPr>
              <a:buNone/>
            </a:pPr>
            <a:r>
              <a:rPr lang="en-GB" sz="1700" b="1" noProof="1"/>
              <a:t>Design Objectives:</a:t>
            </a:r>
            <a:endParaRPr lang="en-GB" sz="1700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sz="1700" noProof="1"/>
              <a:t>Meet earlier </a:t>
            </a:r>
            <a:r>
              <a:rPr lang="en-GB" sz="1700" b="1" noProof="1"/>
              <a:t>design considerations</a:t>
            </a:r>
            <a:r>
              <a:rPr lang="en-GB" sz="1700" noProof="1"/>
              <a:t> through: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noProof="1"/>
              <a:t>Strategic </a:t>
            </a:r>
            <a:r>
              <a:rPr lang="en-GB" sz="1700" b="1" noProof="1"/>
              <a:t>hardware layout.</a:t>
            </a:r>
            <a:endParaRPr lang="en-GB" sz="1700" noProof="1"/>
          </a:p>
          <a:p>
            <a:pPr marL="742950" lvl="1" indent="-285750"/>
            <a:r>
              <a:rPr lang="en-GB" sz="1700" noProof="1"/>
              <a:t>Proper </a:t>
            </a:r>
            <a:r>
              <a:rPr lang="en-GB" sz="1700" b="1" noProof="1"/>
              <a:t>IP addressing </a:t>
            </a:r>
            <a:r>
              <a:rPr lang="en-GB" sz="1800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(192.168.x.x /24 per zone).</a:t>
            </a:r>
            <a:endParaRPr lang="en-GB" sz="1700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noProof="1"/>
              <a:t>Efficient </a:t>
            </a:r>
            <a:r>
              <a:rPr lang="en-GB" sz="1700" b="1" noProof="1"/>
              <a:t>device interconnectivity.</a:t>
            </a:r>
          </a:p>
          <a:p>
            <a:pPr marL="742950" lvl="1" indent="-285750"/>
            <a:r>
              <a:rPr lang="en-GB" sz="1800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organized inter-office communication.</a:t>
            </a:r>
            <a:endParaRPr lang="en-GB" sz="1700" noProof="1"/>
          </a:p>
          <a:p>
            <a:pPr>
              <a:buNone/>
            </a:pPr>
            <a:r>
              <a:rPr lang="en-GB" sz="1700" b="1" noProof="1"/>
              <a:t>Key Features:</a:t>
            </a:r>
            <a:endParaRPr lang="en-GB" sz="1700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noProof="1"/>
              <a:t>Secure &amp; Organized Communication</a:t>
            </a:r>
            <a:r>
              <a:rPr lang="en-GB" sz="1700" noProof="1"/>
              <a:t> across all office sections.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noProof="1"/>
              <a:t>Centralized Services</a:t>
            </a:r>
            <a:r>
              <a:rPr lang="en-GB" sz="1700" noProof="1"/>
              <a:t> hosted in a secure </a:t>
            </a:r>
            <a:r>
              <a:rPr lang="en-GB" sz="1700" b="1" noProof="1"/>
              <a:t>server room.</a:t>
            </a:r>
            <a:endParaRPr lang="en-GB" sz="1700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noProof="1"/>
              <a:t>Reliable Internet Access</a:t>
            </a:r>
            <a:r>
              <a:rPr lang="en-GB" sz="1700" noProof="1"/>
              <a:t> for all network zones.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noProof="1"/>
              <a:t>Cost-Effective &amp; Scalable Design</a:t>
            </a:r>
            <a:r>
              <a:rPr lang="en-GB" sz="1700" noProof="1"/>
              <a:t> principles applied.</a:t>
            </a:r>
          </a:p>
          <a:p>
            <a:endParaRPr lang="en-GB" noProof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FBE22-5310-96EE-0400-687B21602D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GB" sz="1700" b="1" noProof="1"/>
              <a:t>Remote Connectivity:</a:t>
            </a:r>
            <a:endParaRPr lang="en-GB" sz="1700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sz="1700" noProof="1"/>
              <a:t>Supports </a:t>
            </a:r>
            <a:r>
              <a:rPr lang="en-GB" sz="1700" b="1" noProof="1"/>
              <a:t>VPN &amp; SSH</a:t>
            </a:r>
            <a:r>
              <a:rPr lang="en-GB" sz="1700" noProof="1"/>
              <a:t> for hybrid and off-site staff.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noProof="1"/>
              <a:t>Ensures safe access to internal resources from remote locations.</a:t>
            </a:r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42864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CAEB-BDDA-BEA5-D8E4-22921439A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Reflection on Network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76FF8-0EDC-A6E9-9E84-5B311F927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53265"/>
            <a:ext cx="11155680" cy="419267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b="1" noProof="1"/>
              <a:t>Key Challenges:</a:t>
            </a:r>
            <a:endParaRPr lang="en-GB" noProof="1"/>
          </a:p>
          <a:p>
            <a:r>
              <a:rPr lang="en-GB" b="1" noProof="1"/>
              <a:t>IP Address Allocation</a:t>
            </a:r>
            <a:r>
              <a:rPr lang="en-GB" noProof="1"/>
              <a:t> across multiple subnets </a:t>
            </a:r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ensuring full connectivity.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Configuring </a:t>
            </a:r>
            <a:r>
              <a:rPr lang="en-GB" b="1" noProof="1"/>
              <a:t>RIP routing protocols</a:t>
            </a:r>
            <a:r>
              <a:rPr lang="en-GB" noProof="1"/>
              <a:t> (frequent “host unreachable” errors).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Bridging </a:t>
            </a:r>
            <a:r>
              <a:rPr lang="en-GB" b="1" noProof="1"/>
              <a:t>theory vs practical implementation.</a:t>
            </a:r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limitations: simplified VLAN, wireless, and firewall settings.</a:t>
            </a:r>
            <a:endParaRPr lang="en-GB" noProof="1"/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layout management becoming complex as topology grew.</a:t>
            </a:r>
            <a:endParaRPr lang="en-GB" noProof="1"/>
          </a:p>
          <a:p>
            <a:pPr>
              <a:buNone/>
            </a:pPr>
            <a:r>
              <a:rPr lang="en-GB" b="1" noProof="1"/>
              <a:t>Key Takeaways: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Gained hands-on skills in </a:t>
            </a:r>
            <a:r>
              <a:rPr lang="en-GB" b="1" noProof="1"/>
              <a:t>network design, IP planning, and troubleshooting.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should be written alongside design decisions, not after.</a:t>
            </a:r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planning the IP schema before building the topology.</a:t>
            </a:r>
            <a:endParaRPr lang="en-GB" noProof="1"/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one zone at a time to isolate configuration errors.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Laid a solid foundation for future growth with advanced tools.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noProof="1"/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20006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1A25-045F-3799-25F1-C72C1A62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8379"/>
          </a:xfrm>
        </p:spPr>
        <p:txBody>
          <a:bodyPr/>
          <a:lstStyle/>
          <a:p>
            <a:r>
              <a:rPr lang="en-GB" u="sng" noProof="1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D46C-BCB7-6EA8-42BC-140F1CA34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35277"/>
            <a:ext cx="11155680" cy="4310659"/>
          </a:xfrm>
        </p:spPr>
        <p:txBody>
          <a:bodyPr/>
          <a:lstStyle/>
          <a:p>
            <a:pPr>
              <a:buNone/>
            </a:pPr>
            <a:r>
              <a:rPr lang="en-GB" b="1" noProof="1"/>
              <a:t>Cost-Conscious Design Strategy: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Prioritized </a:t>
            </a:r>
            <a:r>
              <a:rPr lang="en-GB" b="1" noProof="1"/>
              <a:t>cost-effective solutions</a:t>
            </a:r>
            <a:r>
              <a:rPr lang="en-GB" noProof="1"/>
              <a:t> without sacrificing </a:t>
            </a:r>
            <a:r>
              <a:rPr lang="en-GB" b="1" noProof="1"/>
              <a:t>performance.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Focused on </a:t>
            </a:r>
            <a:r>
              <a:rPr lang="en-GB" b="1" noProof="1"/>
              <a:t>multipurpose devices</a:t>
            </a:r>
            <a:r>
              <a:rPr lang="en-GB" noProof="1"/>
              <a:t> (e.g., VLAN-capable switches, routers with built-in Wi-Fi).</a:t>
            </a:r>
          </a:p>
          <a:p>
            <a:pPr marL="0" indent="0">
              <a:buNone/>
            </a:pPr>
            <a:endParaRPr lang="en-GB" noProof="1"/>
          </a:p>
          <a:p>
            <a:pPr>
              <a:buNone/>
            </a:pPr>
            <a:r>
              <a:rPr lang="en-GB" b="1" noProof="1"/>
              <a:t>Key Budgeting Decisions: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Avoided </a:t>
            </a:r>
            <a:r>
              <a:rPr lang="en-GB" b="1" noProof="1"/>
              <a:t>expensive enterprise-grade hardware.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Chose </a:t>
            </a:r>
            <a:r>
              <a:rPr lang="en-GB" b="1" noProof="1"/>
              <a:t>standard switches &amp; access points</a:t>
            </a:r>
            <a:r>
              <a:rPr lang="en-GB" noProof="1"/>
              <a:t> suitable for expected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Reused </a:t>
            </a:r>
            <a:r>
              <a:rPr lang="en-GB" b="1" noProof="1"/>
              <a:t>existing servers and infrastructure.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Standardized device models</a:t>
            </a:r>
            <a:r>
              <a:rPr lang="en-GB" noProof="1"/>
              <a:t> to reduce support/training costs.</a:t>
            </a:r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218840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94AB-4405-F7AC-FCBD-1A1EE53D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Budget(continues….)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441FD4-1E02-E89D-601D-829CE7DCB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078669"/>
              </p:ext>
            </p:extLst>
          </p:nvPr>
        </p:nvGraphicFramePr>
        <p:xfrm>
          <a:off x="520700" y="2578100"/>
          <a:ext cx="1115694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454">
                  <a:extLst>
                    <a:ext uri="{9D8B030D-6E8A-4147-A177-3AD203B41FA5}">
                      <a16:colId xmlns:a16="http://schemas.microsoft.com/office/drawing/2014/main" val="3986768977"/>
                    </a:ext>
                  </a:extLst>
                </a:gridCol>
                <a:gridCol w="1980020">
                  <a:extLst>
                    <a:ext uri="{9D8B030D-6E8A-4147-A177-3AD203B41FA5}">
                      <a16:colId xmlns:a16="http://schemas.microsoft.com/office/drawing/2014/main" val="2827761802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1335819878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2173805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1"/>
                        <a:t>Devices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1"/>
                        <a:t>Quantity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1"/>
                        <a:t>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1"/>
                        <a:t>Total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4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Switch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R1 700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R17 000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58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Wireless router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R740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R2 960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673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R450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R450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58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PT routers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R3 500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R21 000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185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Telephone (conference)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R2 700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R2 700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883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Access Points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R1 200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R104 400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7414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Material Subtotal 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noProof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R148 510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7415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Labour (7 member x 2 days x R6 982/day)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noProof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noProof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R97 748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93966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PROJECT COST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noProof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noProof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00" noProof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R256 258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49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803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7B10-E8A8-86B6-307C-51B3C373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Remote Group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3E248-17B0-35B6-C8E2-0FC072F4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33601"/>
            <a:ext cx="11155680" cy="455233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noProof="1"/>
              <a:t>Work Strategy: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In-person meetings</a:t>
            </a:r>
            <a:r>
              <a:rPr lang="en-GB" noProof="1"/>
              <a:t> for hands-on configuration &amp; collaborative troubleshooting.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Remote work</a:t>
            </a:r>
            <a:r>
              <a:rPr lang="en-GB" noProof="1"/>
              <a:t> for ongoing progress and task distribution.</a:t>
            </a:r>
          </a:p>
          <a:p>
            <a:pPr>
              <a:buNone/>
            </a:pPr>
            <a:r>
              <a:rPr lang="en-GB" b="1" noProof="1"/>
              <a:t>Tools Used: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WhatsApp Group Calls</a:t>
            </a:r>
            <a:r>
              <a:rPr lang="en-GB" noProof="1"/>
              <a:t>: Task planning, updates, and decision-making.</a:t>
            </a:r>
          </a:p>
          <a:p>
            <a:pPr>
              <a:buNone/>
            </a:pPr>
            <a:r>
              <a:rPr lang="en-GB" b="1" noProof="1"/>
              <a:t>Collaboration Approach: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Tasks aligned with </a:t>
            </a:r>
            <a:r>
              <a:rPr lang="en-GB" b="1" noProof="1"/>
              <a:t>members’ strengths.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Rotating documentation duties</a:t>
            </a:r>
            <a:r>
              <a:rPr lang="en-GB" noProof="1"/>
              <a:t> to build writing skills &amp; ensure equal contribution.</a:t>
            </a:r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55983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0CA8-D9EA-21EA-8155-1DAC3A21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Remote work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44B4-543E-3B66-60CE-D47FC7CAD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63097"/>
            <a:ext cx="11155680" cy="418283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b="1" noProof="1"/>
              <a:t>Key Challenges: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Scheduling conflicts</a:t>
            </a:r>
            <a:r>
              <a:rPr lang="en-GB" noProof="1"/>
              <a:t> affected task coordination.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Occasional </a:t>
            </a:r>
            <a:r>
              <a:rPr lang="en-GB" b="1" noProof="1"/>
              <a:t>missed deadlines</a:t>
            </a:r>
            <a:r>
              <a:rPr lang="en-GB" noProof="1"/>
              <a:t> led to frustration.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Required </a:t>
            </a:r>
            <a:r>
              <a:rPr lang="en-GB" b="1" noProof="1"/>
              <a:t>thoughtful task distribution</a:t>
            </a:r>
            <a:r>
              <a:rPr lang="en-GB" noProof="1"/>
              <a:t> to match skills and availability.</a:t>
            </a:r>
          </a:p>
          <a:p>
            <a:r>
              <a:rPr lang="en-GB" noProof="1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communication introduced decision delays.</a:t>
            </a:r>
            <a:endParaRPr lang="en-GB" noProof="1"/>
          </a:p>
          <a:p>
            <a:pPr>
              <a:buNone/>
            </a:pPr>
            <a:r>
              <a:rPr lang="en-GB" b="1" noProof="1"/>
              <a:t>Positive Responses: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Maintained a </a:t>
            </a:r>
            <a:r>
              <a:rPr lang="en-GB" b="1" noProof="1"/>
              <a:t>supportive, team-focused environment.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Peer encouragement</a:t>
            </a:r>
            <a:r>
              <a:rPr lang="en-GB" noProof="1"/>
              <a:t> helped sustain morale.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Focused on </a:t>
            </a:r>
            <a:r>
              <a:rPr lang="en-GB" b="1" noProof="1"/>
              <a:t>collaboration over blame.</a:t>
            </a:r>
            <a:endParaRPr lang="en-GB" noProof="1"/>
          </a:p>
          <a:p>
            <a:pPr>
              <a:buNone/>
            </a:pPr>
            <a:r>
              <a:rPr lang="en-GB" b="1" noProof="1"/>
              <a:t>Communication &amp; Growth: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WhatsApp was key for </a:t>
            </a:r>
            <a:r>
              <a:rPr lang="en-GB" b="1" noProof="1"/>
              <a:t>updates, accountability, and clarification.</a:t>
            </a:r>
            <a:endParaRPr lang="en-GB" noProof="1"/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997551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166F-9F00-E84B-D363-5319C8EC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8FB39-36AB-17C8-B9AC-35224B63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1"/>
              <a:t>Network Design –  </a:t>
            </a:r>
            <a:r>
              <a:rPr lang="en-GB" sz="1700" noProof="1"/>
              <a:t>Hybrid ring-extended star topology — 6 routers, 10 switches, 87 APs across all zones.</a:t>
            </a:r>
          </a:p>
          <a:p>
            <a:r>
              <a:rPr lang="en-GB" b="1" noProof="1"/>
              <a:t>Requirements Met – </a:t>
            </a:r>
            <a:r>
              <a:rPr lang="en-GB" sz="1700" noProof="1"/>
              <a:t>All zones have Internet access. Wired ≥50 Mb/s, Wi-Fi ≥10 Mb/s. Machine room centralised.</a:t>
            </a:r>
          </a:p>
          <a:p>
            <a:r>
              <a:rPr lang="en-GB" b="1" noProof="1"/>
              <a:t>Security –  </a:t>
            </a:r>
            <a:r>
              <a:rPr lang="en-GB" sz="1700" noProof="1"/>
              <a:t>Guest Wi-Fi isolated. Store room excluded. Remote staff authenticated via VPN/SSH.</a:t>
            </a:r>
          </a:p>
          <a:p>
            <a:r>
              <a:rPr lang="en-GB" b="1" noProof="1"/>
              <a:t>Budget –  </a:t>
            </a:r>
            <a:r>
              <a:rPr lang="en-GB" sz="1700" noProof="1"/>
              <a:t>Total R246 258 (R148 510 hardware + R97 748 labour) — cost-effective for a 5 000 m² building.</a:t>
            </a:r>
          </a:p>
          <a:p>
            <a:r>
              <a:rPr lang="en-GB" b="1" noProof="1"/>
              <a:t>Lessons Learned –  </a:t>
            </a:r>
            <a:r>
              <a:rPr lang="en-GB" sz="1700" noProof="1"/>
              <a:t>Plan IP schema first. Build zone by zone. Document decisions as they are made.</a:t>
            </a:r>
          </a:p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710939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37FC-2EFC-2FD4-ABA0-8F168DC9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noProof="1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A7D9-09AE-DA72-484A-DFF7BE9A3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82761"/>
            <a:ext cx="11155680" cy="4163175"/>
          </a:xfrm>
        </p:spPr>
        <p:txBody>
          <a:bodyPr/>
          <a:lstStyle/>
          <a:p>
            <a:r>
              <a:rPr lang="en-GB" sz="1700" noProof="1"/>
              <a:t>Cisco Systems. (2025). Cisco Packet Tracer 9.0.0 – Network simulation tool. Retrieved from https://www.netacad.com/courses/packet-tracer</a:t>
            </a:r>
          </a:p>
          <a:p>
            <a:r>
              <a:rPr lang="en-GB" sz="1700" noProof="1"/>
              <a:t>Sejaphala, L. (2024). CMPG315 Computer Networks Study Guide. North-West University</a:t>
            </a:r>
          </a:p>
          <a:p>
            <a:r>
              <a:rPr lang="en-GB" sz="1700" noProof="1"/>
              <a:t>Tanenbaum, A. S., &amp; Wetherall, D. (2011). Computer Networks (5th ed.). Pearson Education.</a:t>
            </a:r>
          </a:p>
          <a:p>
            <a:pPr marL="0" indent="0">
              <a:buNone/>
            </a:pPr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94420117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42abb4d-4557-4745-b959-458eca0918b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340185D38C8045880DE658E79E72AA" ma:contentTypeVersion="10" ma:contentTypeDescription="Create a new document." ma:contentTypeScope="" ma:versionID="c45518282963f1ec421e56623975b375">
  <xsd:schema xmlns:xsd="http://www.w3.org/2001/XMLSchema" xmlns:xs="http://www.w3.org/2001/XMLSchema" xmlns:p="http://schemas.microsoft.com/office/2006/metadata/properties" xmlns:ns3="442abb4d-4557-4745-b959-458eca0918bb" targetNamespace="http://schemas.microsoft.com/office/2006/metadata/properties" ma:root="true" ma:fieldsID="efc5bb98cdbcb709857698c7274058cd" ns3:_="">
    <xsd:import namespace="442abb4d-4557-4745-b959-458eca091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2abb4d-4557-4745-b959-458eca0918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11E794-BF90-4B50-8E1F-703916424B47}">
  <ds:schemaRefs>
    <ds:schemaRef ds:uri="http://schemas.microsoft.com/office/2006/metadata/properties"/>
    <ds:schemaRef ds:uri="http://www.w3.org/2000/xmlns/"/>
    <ds:schemaRef ds:uri="442abb4d-4557-4745-b959-458eca0918bb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D3A5772-F570-421F-8686-15608EDCE46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42abb4d-4557-4745-b959-458eca0918b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F092C-C85A-48F3-B208-09DCC0E3D77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14d86f1-83ba-4b13-a702-b5c0231b9337}" enabled="0" method="" siteId="{b14d86f1-83ba-4b13-a702-b5c0231b933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1397</Words>
  <Application>Microsoft Office PowerPoint</Application>
  <PresentationFormat>Widescreen</PresentationFormat>
  <Paragraphs>236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Bierstadt</vt:lpstr>
      <vt:lpstr>Calibri</vt:lpstr>
      <vt:lpstr>Symbol</vt:lpstr>
      <vt:lpstr>GestaltVTI</vt:lpstr>
      <vt:lpstr>Enterprise Network Design Project </vt:lpstr>
      <vt:lpstr>Project Team</vt:lpstr>
      <vt:lpstr>Project Overview</vt:lpstr>
      <vt:lpstr>Network Topology</vt:lpstr>
      <vt:lpstr>Detailed Breakdown of Network Components</vt:lpstr>
      <vt:lpstr>IP Addressing Schema</vt:lpstr>
      <vt:lpstr>Network Design Consideration</vt:lpstr>
      <vt:lpstr>Network Design Consideration(cont…)</vt:lpstr>
      <vt:lpstr>Network Design Consideration(cont…)</vt:lpstr>
      <vt:lpstr>Network Design</vt:lpstr>
      <vt:lpstr>Reflection on Network Design</vt:lpstr>
      <vt:lpstr>Budget</vt:lpstr>
      <vt:lpstr>Budget(continues….)</vt:lpstr>
      <vt:lpstr>Remote Group Work</vt:lpstr>
      <vt:lpstr>Remote work reflection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Network Design Project </dc:title>
  <dc:creator>Jabulani Mokoena</dc:creator>
  <cp:lastModifiedBy>L-TDO NKOSIYAPHANTSI</cp:lastModifiedBy>
  <cp:revision>6</cp:revision>
  <dcterms:created xsi:type="dcterms:W3CDTF">2025-04-30T18:38:51Z</dcterms:created>
  <dcterms:modified xsi:type="dcterms:W3CDTF">2026-05-03T21:57:44Z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0x010100C9340185D38C8045880DE658E79E72AA</vt:lpwstr>
  </property>
</Properties>
</file>